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81F37"/>
                </a:solidFill>
              </a:defRPr>
            </a:pPr>
            <a:r>
              <a:t>INTELLIGENT RESEARCH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8B5CF6"/>
                </a:solidFill>
              </a:defRPr>
            </a:pPr>
            <a:r>
              <a:t>AI-Powered Data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D6CFF"/>
                </a:solidFill>
              </a:defRPr>
            </a:pPr>
            <a:r>
              <a:t>Problem Statement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1F37"/>
                </a:solidFill>
              </a:defRPr>
            </a:pPr>
            <a:r>
              <a:t>PLAN  →  COLLECT  →  VALIDATE  →  STRUCTURE  → 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What PS-01 requires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44B"/>
                </a:solidFill>
              </a:defRPr>
            </a:pPr>
            <a:r>
              <a:t>• Research/data requests often start as natural-language questions but require multiple collection and processing steps.</a:t>
            </a:r>
          </a:p>
          <a:p>
            <a:pPr>
              <a:spcAft>
                <a:spcPts val="1400"/>
              </a:spcAft>
              <a:defRPr sz="1700">
                <a:solidFill>
                  <a:srgbClr val="2D344B"/>
                </a:solidFill>
              </a:defRPr>
            </a:pPr>
            <a:r>
              <a:t>• Information may come from multiple permitted sources and formats, creating cleaning, validation, deduplication and traceability challenges.</a:t>
            </a:r>
          </a:p>
          <a:p>
            <a:pPr>
              <a:spcAft>
                <a:spcPts val="1400"/>
              </a:spcAft>
              <a:defRPr sz="1700">
                <a:solidFill>
                  <a:srgbClr val="2D344B"/>
                </a:solidFill>
              </a:defRPr>
            </a:pPr>
            <a:r>
              <a:t>• Users need a managed workflow, visible progress, searchable history and clean, structured, source-backed results — not only generated text.</a:t>
            </a:r>
          </a:p>
          <a:p>
            <a:pPr>
              <a:spcAft>
                <a:spcPts val="1400"/>
              </a:spcAft>
              <a:defRPr sz="1700">
                <a:solidFill>
                  <a:srgbClr val="2D344B"/>
                </a:solidFill>
              </a:defRPr>
            </a:pPr>
            <a:r>
              <a:t>• PS-01 calls for dynamic workflow design/execution, multi-source collection, processing/validation, source traceability, monitoring and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02 —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One request becomes an executable research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2704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Natural-language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315467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User describes what information is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417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52704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Autonomous research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1920240"/>
            <a:ext cx="315467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Agent creates subtasks and chooses collection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417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52704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Evidence-backed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1920240"/>
            <a:ext cx="315467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Data is cleaned, validated, structured and linked to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6440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Multi-source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57600"/>
            <a:ext cx="315467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Permitted web URLs plus user-provided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1546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326440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Data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657600"/>
            <a:ext cx="315467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Entity resolution, deduplication, conflicts and confidence.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31546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26440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Actionable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657600"/>
            <a:ext cx="315467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Dashboard, structured dataset and downloadable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03 —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Only the features that directly support PS-01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8988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Research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Natural language → subtasks →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8988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Multi-source Collector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Web URLs + PDF/DOCX/CSV/TXT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7860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Evidence &amp; 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71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Findings mapped to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57860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Data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971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Cleaning + normalization + deduplication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76732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Validation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1605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Cross-source verification + conflicts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6732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Structured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605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Dynamic fields + search/filter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4632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95604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Monitoring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349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Live task/source/evidence timeline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846320"/>
            <a:ext cx="5440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4956048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Report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5349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PDF + CSV +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04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898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830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User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3898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7830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Intent +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3898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17830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Dynamic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614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1546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Source collection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651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7614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1546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Content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651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7614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1546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Clean + normalize + deduplicate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1330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5262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Validate + detect conflicts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41330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5262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Structured dataset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0233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4133088"/>
            <a:ext cx="31546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STEP 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526280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Report / CSV /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05 —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Modular and realistic for a one-person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435607"/>
            <a:ext cx="1783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82880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3D workspace • dashboard • research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32588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1435607"/>
            <a:ext cx="1783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82880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API • orchestration • uploads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32588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2936" y="1435607"/>
            <a:ext cx="1783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Agent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2936" y="182880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planner • task router • tool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5" y="132588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7" y="1435607"/>
            <a:ext cx="1783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Evidence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7" y="182880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extraction • validation • 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65208" y="132588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435607"/>
            <a:ext cx="1783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182880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SQLite • history •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06324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172968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Collection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35661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Search/grounding • URL reader • document/data readers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06324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3172968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AI Providers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1" y="35661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Gemini for research/grounding • Groq for fast subtasks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063240"/>
            <a:ext cx="2971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3172968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35661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Dashboard • PDF • CSV • 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06 — Judge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Concrete end-to-end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8988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Research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83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Find Indian cybersecurity startups founded after 2020; collect founder, funding, product, location and latest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2801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38988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Agent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783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Plan generated → sources discovered → evidence extracted → conflicts checked → dataset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9016" y="12801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38988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Structured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1783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Records with normalized fields, source links, evidence and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2644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6576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Click a finding → see supporting source/evidence.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31546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32644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Data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6576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Duplicate entities merged; inconsistent values surfaced as conflicts.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31546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32644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65760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Generate PDF report and export structured CSV/JSON.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07 — Direct PS-01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Feature-to-requirement alignment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132320"/>
              </a:tblGrid>
              <a:tr h="528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Official requirement</a:t>
                      </a:r>
                    </a:p>
                  </a:txBody>
                  <a:tcPr>
                    <a:solidFill>
                      <a:srgbClr val="18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Copilot implementation</a:t>
                      </a:r>
                    </a:p>
                  </a:txBody>
                  <a:tcPr>
                    <a:solidFill>
                      <a:srgbClr val="181F3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Natural-language understanding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Intent parser + requested fields/schema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Dynamic workflow design/execution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Research Planner + task executor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Multi-source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Permitted web sources + user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Cleaning / structuring /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Normalization + deduplication +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Source-backed 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Evidence/provenance attached to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Task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Research activity/status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Dashboard / history / search /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Workspace + saved research + structured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D344B"/>
                          </a:solidFill>
                        </a:defRPr>
                      </a:pPr>
                      <a:r>
                        <a:t>PDF report + CSV/JSON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1F37"/>
                </a:solidFill>
              </a:defRPr>
            </a:pPr>
            <a:r>
              <a:t>08 — Submission &amp; Demo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87"/>
                </a:solidFill>
              </a:defRPr>
            </a:pPr>
            <a:r>
              <a:t>Keep the product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44B"/>
                </a:solidFill>
              </a:defRPr>
            </a:pPr>
            <a:r>
              <a:t>• Show one complete research run instead of many disconnected features.</a:t>
            </a:r>
          </a:p>
          <a:p>
            <a:pPr>
              <a:spcAft>
                <a:spcPts val="1300"/>
              </a:spcAft>
              <a:defRPr sz="1700">
                <a:solidFill>
                  <a:srgbClr val="2D344B"/>
                </a:solidFill>
              </a:defRPr>
            </a:pPr>
            <a:r>
              <a:t>• Demonstrate the generated plan, source collection, evidence panel and structured dataset.</a:t>
            </a:r>
          </a:p>
          <a:p>
            <a:pPr>
              <a:spcAft>
                <a:spcPts val="1300"/>
              </a:spcAft>
              <a:defRPr sz="1700">
                <a:solidFill>
                  <a:srgbClr val="2D344B"/>
                </a:solidFill>
              </a:defRPr>
            </a:pPr>
            <a:r>
              <a:t>• Show one conflict case to prove the system surfaces uncertainty instead of hiding it.</a:t>
            </a:r>
          </a:p>
          <a:p>
            <a:pPr>
              <a:spcAft>
                <a:spcPts val="1300"/>
              </a:spcAft>
              <a:defRPr sz="1700">
                <a:solidFill>
                  <a:srgbClr val="2D344B"/>
                </a:solidFill>
              </a:defRPr>
            </a:pPr>
            <a:r>
              <a:t>• Finish with the downloadable PDF report and CSV/JSON dataset.</a:t>
            </a:r>
          </a:p>
          <a:p>
            <a:pPr>
              <a:spcAft>
                <a:spcPts val="1300"/>
              </a:spcAft>
              <a:defRPr sz="1700">
                <a:solidFill>
                  <a:srgbClr val="2D344B"/>
                </a:solidFill>
              </a:defRPr>
            </a:pPr>
            <a:r>
              <a:t>• Do not spend hackathon time on enterprise features such as billing, large-scale collaboration or complex distributed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523036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Working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623559"/>
            <a:ext cx="2971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Primary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512064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523036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Short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5623559"/>
            <a:ext cx="2971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Submission asset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512064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523036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1F37"/>
                </a:solidFill>
              </a:defRPr>
            </a:pPr>
            <a:r>
              <a:t>Research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5623559"/>
            <a:ext cx="2971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344B"/>
                </a:solidFill>
              </a:defRPr>
            </a:pPr>
            <a:r>
              <a:t>Final tangible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